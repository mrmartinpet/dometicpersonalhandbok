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3"/>
  </p:notesMasterIdLst>
  <p:sldIdLst>
    <p:sldId id="806" r:id="rId2"/>
  </p:sldIdLst>
  <p:sldSz cx="9144000" cy="5715000" type="screen16x1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252" userDrawn="1">
          <p15:clr>
            <a:srgbClr val="A4A3A4"/>
          </p15:clr>
        </p15:guide>
        <p15:guide id="5" orient="horz" pos="802" userDrawn="1">
          <p15:clr>
            <a:srgbClr val="A4A3A4"/>
          </p15:clr>
        </p15:guide>
        <p15:guide id="12" pos="29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a Vallejo" initials="MV" lastIdx="3" clrIdx="0">
    <p:extLst>
      <p:ext uri="{19B8F6BF-5375-455C-9EA6-DF929625EA0E}">
        <p15:presenceInfo xmlns:p15="http://schemas.microsoft.com/office/powerpoint/2012/main" userId="S-1-5-21-4284098956-2028867948-1752045466-22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4" autoAdjust="0"/>
    <p:restoredTop sz="81867" autoAdjust="0"/>
  </p:normalViewPr>
  <p:slideViewPr>
    <p:cSldViewPr snapToObjects="1">
      <p:cViewPr varScale="1">
        <p:scale>
          <a:sx n="127" d="100"/>
          <a:sy n="127" d="100"/>
        </p:scale>
        <p:origin x="1596" y="120"/>
      </p:cViewPr>
      <p:guideLst>
        <p:guide orient="horz" pos="3252"/>
        <p:guide orient="horz" pos="802"/>
        <p:guide pos="29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2A5B9-9EBD-4865-8866-2561B4465C82}" type="datetimeFigureOut">
              <a:rPr lang="sv-SE" smtClean="0"/>
              <a:pPr/>
              <a:t>2023-09-14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44538"/>
            <a:ext cx="59563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24F8-4326-4EA0-BDC8-40357B36FE04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53315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8C24F8-4326-4EA0-BDC8-40357B36FE04}" type="slidenum">
              <a:rPr lang="sv-SE" smtClean="0"/>
              <a:pPr/>
              <a:t>1</a:t>
            </a:fld>
            <a:endParaRPr lang="sv-S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095500"/>
            <a:ext cx="6686549" cy="1885651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981150"/>
            <a:ext cx="6686549" cy="938569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603176"/>
            <a:ext cx="1308489" cy="648824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774617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0066706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520092"/>
            <a:ext cx="6683765" cy="106740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778000"/>
            <a:ext cx="6686550" cy="314801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0880672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715625"/>
            <a:ext cx="6686549" cy="12240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941774"/>
            <a:ext cx="6686549" cy="7170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648479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703450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8131494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778000"/>
            <a:ext cx="3235398" cy="3148018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771852"/>
            <a:ext cx="3235398" cy="3148018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656485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654171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643919"/>
            <a:ext cx="2994549" cy="480218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124138"/>
            <a:ext cx="3257170" cy="2795050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641229"/>
            <a:ext cx="2999251" cy="480218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121448"/>
            <a:ext cx="3254006" cy="2795050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656485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557087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4404093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9371743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71740"/>
            <a:ext cx="2628899" cy="813593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71741"/>
            <a:ext cx="3886200" cy="4512469"/>
          </a:xfrm>
        </p:spPr>
        <p:txBody>
          <a:bodyPr anchor="ctr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332178"/>
            <a:ext cx="2628899" cy="355203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736184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000500"/>
            <a:ext cx="6686550" cy="47228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529138"/>
            <a:ext cx="6686550" cy="3212475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472782"/>
            <a:ext cx="6686550" cy="411427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093104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152573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4036278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508000"/>
            <a:ext cx="6686549" cy="2597533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628372"/>
            <a:ext cx="6686549" cy="1296553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648479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703450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670241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508000"/>
            <a:ext cx="6295445" cy="24130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921000"/>
            <a:ext cx="5652416" cy="317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628372"/>
            <a:ext cx="6686549" cy="1296553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648479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703450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4" name="TextBox 13"/>
          <p:cNvSpPr txBox="1"/>
          <p:nvPr/>
        </p:nvSpPr>
        <p:spPr>
          <a:xfrm>
            <a:off x="1850739" y="540004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421089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410098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32001"/>
            <a:ext cx="6686550" cy="227070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318000"/>
            <a:ext cx="6686550" cy="6080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093104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152573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786231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 för 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508000"/>
            <a:ext cx="6295445" cy="24130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619500"/>
            <a:ext cx="6686550" cy="6985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318000"/>
            <a:ext cx="6686550" cy="6080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093104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152573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7" name="TextBox 16"/>
          <p:cNvSpPr txBox="1"/>
          <p:nvPr/>
        </p:nvSpPr>
        <p:spPr>
          <a:xfrm>
            <a:off x="1850739" y="540004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421089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9235418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522839"/>
            <a:ext cx="6686549" cy="2400017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619500"/>
            <a:ext cx="6686550" cy="6985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318000"/>
            <a:ext cx="6686550" cy="60801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093104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152573"/>
            <a:ext cx="584825" cy="304271"/>
          </a:xfrm>
        </p:spPr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0583295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27881218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522838"/>
            <a:ext cx="1655701" cy="4403181"/>
          </a:xfrm>
        </p:spPr>
        <p:txBody>
          <a:bodyPr vert="eaVert" anchor="ctr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522838"/>
            <a:ext cx="4857750" cy="4403181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95313"/>
            <a:ext cx="1191395" cy="422748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80870368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Slide /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objekt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388" y="192881"/>
            <a:ext cx="8785225" cy="53292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14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 algn="ctr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45000" indent="0" algn="ctr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402200" indent="0" algn="ctr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859400" indent="0" algn="ctr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87680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Slide Selec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79388" y="192881"/>
            <a:ext cx="8785225" cy="5329238"/>
          </a:xfrm>
        </p:spPr>
        <p:txBody>
          <a:bodyPr/>
          <a:lstStyle>
            <a:lvl1pPr marL="198000" marR="0" indent="-198000" algn="l" defTabSz="914400" rtl="0" eaLnBrk="1" fontAlgn="auto" latinLnBrk="0" hangingPunct="1">
              <a:lnSpc>
                <a:spcPct val="100000"/>
              </a:lnSpc>
              <a:spcBef>
                <a:spcPts val="1032"/>
              </a:spcBef>
              <a:spcAft>
                <a:spcPts val="0"/>
              </a:spcAft>
              <a:buClr>
                <a:schemeClr val="accent3"/>
              </a:buClr>
              <a:buSzTx/>
              <a:buFont typeface="Arial" pitchFamily="34" charset="0"/>
              <a:buChar char="•"/>
              <a:tabLst/>
              <a:defRPr/>
            </a:lvl1pPr>
          </a:lstStyle>
          <a:p>
            <a:r>
              <a:rPr lang="en-US"/>
              <a:t>Click on icon to add picture, then next click and add title. </a:t>
            </a:r>
            <a:br>
              <a:rPr lang="en-US"/>
            </a:br>
            <a:r>
              <a:rPr lang="en-US"/>
              <a:t>If necessary − click on Reset button (on Home tab) to set the slide in right order.</a:t>
            </a:r>
            <a:endParaRPr lang="sv-S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6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45000" indent="0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402200" indent="0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859400" indent="0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1919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Aut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8"/>
          <a:stretch/>
        </p:blipFill>
        <p:spPr>
          <a:xfrm>
            <a:off x="179388" y="192881"/>
            <a:ext cx="8784000" cy="532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13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  <a:lvl2pPr marL="544950" indent="0">
              <a:buFontTx/>
              <a:buNone/>
              <a:defRPr sz="1600">
                <a:solidFill>
                  <a:schemeClr val="bg1"/>
                </a:solidFill>
              </a:defRPr>
            </a:lvl2pPr>
            <a:lvl3pPr marL="945000" indent="0">
              <a:buFontTx/>
              <a:buNone/>
              <a:defRPr sz="1600">
                <a:solidFill>
                  <a:schemeClr val="bg1"/>
                </a:solidFill>
              </a:defRPr>
            </a:lvl3pPr>
            <a:lvl4pPr marL="1402200" indent="0">
              <a:buFontTx/>
              <a:buNone/>
              <a:defRPr sz="1600">
                <a:solidFill>
                  <a:schemeClr val="bg1"/>
                </a:solidFill>
              </a:defRPr>
            </a:lvl4pPr>
            <a:lvl5pPr marL="1859400" indent="0">
              <a:buFontTx/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0915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Mar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88" y="193103"/>
            <a:ext cx="8784000" cy="53275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9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/>
            </a:lvl2pPr>
            <a:lvl3pPr marL="945000" indent="0">
              <a:buFontTx/>
              <a:buNone/>
              <a:defRPr/>
            </a:lvl3pPr>
            <a:lvl4pPr marL="1402200" indent="0">
              <a:buFontTx/>
              <a:buNone/>
              <a:defRPr/>
            </a:lvl4pPr>
            <a:lvl5pPr marL="1859400" indent="0">
              <a:buFontTx/>
              <a:buNone/>
              <a:defRPr/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0420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 R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88" y="193384"/>
            <a:ext cx="8780607" cy="53269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8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 marL="945000" indent="0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 marL="1402200" indent="0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 marL="1859400" indent="0">
              <a:buFontTx/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8807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Med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388" y="193384"/>
            <a:ext cx="8784000" cy="532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9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/>
            </a:lvl2pPr>
            <a:lvl3pPr marL="945000" indent="0">
              <a:buFontTx/>
              <a:buNone/>
              <a:defRPr/>
            </a:lvl3pPr>
            <a:lvl4pPr marL="1402200" indent="0">
              <a:buFontTx/>
              <a:buNone/>
              <a:defRPr/>
            </a:lvl4pPr>
            <a:lvl5pPr marL="1859400" indent="0">
              <a:buFontTx/>
              <a:buNone/>
              <a:defRPr/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6206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Lodg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388" y="193384"/>
            <a:ext cx="8784000" cy="532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9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/>
            </a:lvl2pPr>
            <a:lvl3pPr marL="945000" indent="0">
              <a:buFontTx/>
              <a:buNone/>
              <a:defRPr/>
            </a:lvl3pPr>
            <a:lvl4pPr marL="1402200" indent="0">
              <a:buFontTx/>
              <a:buNone/>
              <a:defRPr/>
            </a:lvl4pPr>
            <a:lvl5pPr marL="1859400" indent="0">
              <a:buFontTx/>
              <a:buNone/>
              <a:defRPr/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9311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Leisure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9388" y="193384"/>
            <a:ext cx="8784000" cy="532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9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/>
            </a:lvl2pPr>
            <a:lvl3pPr marL="945000" indent="0">
              <a:buFontTx/>
              <a:buNone/>
              <a:defRPr/>
            </a:lvl3pPr>
            <a:lvl4pPr marL="1402200" indent="0">
              <a:buFontTx/>
              <a:buNone/>
              <a:defRPr/>
            </a:lvl4pPr>
            <a:lvl5pPr marL="1859400" indent="0">
              <a:buFontTx/>
              <a:buNone/>
              <a:defRPr/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10579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rst / Section Slide - Leisure Comf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22"/>
          <a:stretch/>
        </p:blipFill>
        <p:spPr>
          <a:xfrm>
            <a:off x="179388" y="193384"/>
            <a:ext cx="8784000" cy="532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0088" y="985292"/>
            <a:ext cx="7544321" cy="792088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28524"/>
            <a:ext cx="6400800" cy="504056"/>
          </a:xfrm>
        </p:spPr>
        <p:txBody>
          <a:bodyPr>
            <a:no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9" name="Date"/>
          <p:cNvSpPr>
            <a:spLocks noGrp="1"/>
          </p:cNvSpPr>
          <p:nvPr>
            <p:ph type="body" sz="quarter" idx="15" hasCustomPrompt="1"/>
          </p:nvPr>
        </p:nvSpPr>
        <p:spPr>
          <a:xfrm>
            <a:off x="3924301" y="2385652"/>
            <a:ext cx="1438275" cy="304271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544950" indent="0">
              <a:buFontTx/>
              <a:buNone/>
              <a:defRPr/>
            </a:lvl2pPr>
            <a:lvl3pPr marL="945000" indent="0">
              <a:buFontTx/>
              <a:buNone/>
              <a:defRPr/>
            </a:lvl3pPr>
            <a:lvl4pPr marL="1402200" indent="0">
              <a:buFontTx/>
              <a:buNone/>
              <a:defRPr/>
            </a:lvl4pPr>
            <a:lvl5pPr marL="1859400" indent="0">
              <a:buFontTx/>
              <a:buNone/>
              <a:defRPr/>
            </a:lvl5pPr>
          </a:lstStyle>
          <a:p>
            <a:pPr lvl="0"/>
            <a:r>
              <a:rPr lang="sv-SE"/>
              <a:t>Date</a:t>
            </a:r>
          </a:p>
        </p:txBody>
      </p:sp>
      <p:sp>
        <p:nvSpPr>
          <p:cNvPr id="7" name="Logo"/>
          <p:cNvSpPr>
            <a:spLocks noGrp="1"/>
          </p:cNvSpPr>
          <p:nvPr>
            <p:ph type="body" sz="quarter" idx="14" hasCustomPrompt="1"/>
          </p:nvPr>
        </p:nvSpPr>
        <p:spPr>
          <a:xfrm>
            <a:off x="6995026" y="4732708"/>
            <a:ext cx="1947020" cy="811528"/>
          </a:xfrm>
          <a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sv-S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79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90500"/>
            <a:ext cx="2138637" cy="5532190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655"/>
            <a:ext cx="1767506" cy="571169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715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520092"/>
            <a:ext cx="6683765" cy="10674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778000"/>
            <a:ext cx="6686550" cy="3238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5108698"/>
            <a:ext cx="859712" cy="3086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2012-10-01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5113174"/>
            <a:ext cx="5714999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Dometic Group Company Presentation 2012-10-01</a:t>
            </a:r>
            <a:endParaRPr lang="sv-S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656485"/>
            <a:ext cx="584825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A71593CD-B8E0-4678-86F3-DDC68EE4F94F}" type="slidenum">
              <a:rPr lang="sv-SE" smtClean="0"/>
              <a:pPr/>
              <a:t>‹#›</a:t>
            </a:fld>
            <a:endParaRPr lang="sv-SE"/>
          </a:p>
        </p:txBody>
      </p:sp>
      <p:graphicFrame>
        <p:nvGraphicFramePr>
          <p:cNvPr id="36" name="Object 8" hidden="1">
            <a:extLst>
              <a:ext uri="{FF2B5EF4-FFF2-40B4-BE49-F238E27FC236}">
                <a16:creationId xmlns:a16="http://schemas.microsoft.com/office/drawing/2014/main" id="{9B23E20B-5081-455A-B550-FF7B6DBC5E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1539477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360" imgH="360" progId="">
                  <p:embed/>
                </p:oleObj>
              </mc:Choice>
              <mc:Fallback>
                <p:oleObj name="think-cell Slide" r:id="rId28" imgW="360" imgH="360" progId="">
                  <p:embed/>
                  <p:pic>
                    <p:nvPicPr>
                      <p:cNvPr id="36" name="Object 8" hidden="1">
                        <a:extLst>
                          <a:ext uri="{FF2B5EF4-FFF2-40B4-BE49-F238E27FC236}">
                            <a16:creationId xmlns:a16="http://schemas.microsoft.com/office/drawing/2014/main" id="{A06665C5-B769-420D-8A40-E7AEEEE074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6">
            <a:extLst>
              <a:ext uri="{FF2B5EF4-FFF2-40B4-BE49-F238E27FC236}">
                <a16:creationId xmlns:a16="http://schemas.microsoft.com/office/drawing/2014/main" id="{7D079189-F68B-46B8-8372-61D56F829358}"/>
              </a:ext>
            </a:extLst>
          </p:cNvPr>
          <p:cNvSpPr txBox="1"/>
          <p:nvPr userDrawn="1"/>
        </p:nvSpPr>
        <p:spPr>
          <a:xfrm>
            <a:off x="7092540" y="32955"/>
            <a:ext cx="20329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sz="800" b="1" i="1" dirty="0">
                <a:solidFill>
                  <a:srgbClr val="FF0000"/>
                </a:solidFill>
              </a:rPr>
              <a:t>STRICTLY</a:t>
            </a:r>
            <a:r>
              <a:rPr lang="sv-SE" sz="800" b="1" i="1" baseline="0" dirty="0">
                <a:solidFill>
                  <a:srgbClr val="FF0000"/>
                </a:solidFill>
              </a:rPr>
              <a:t> FOR INTERNAL USE ONLY</a:t>
            </a:r>
            <a:endParaRPr lang="sv-SE" sz="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28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72" r:id="rId17"/>
    <p:sldLayoutId id="2147483661" r:id="rId18"/>
    <p:sldLayoutId id="2147483670" r:id="rId19"/>
    <p:sldLayoutId id="2147483671" r:id="rId20"/>
    <p:sldLayoutId id="2147483675" r:id="rId21"/>
    <p:sldLayoutId id="2147483680" r:id="rId22"/>
    <p:sldLayoutId id="2147483677" r:id="rId23"/>
    <p:sldLayoutId id="2147483678" r:id="rId24"/>
    <p:sldLayoutId id="2147483676" r:id="rId25"/>
  </p:sldLayoutIdLst>
  <p:hf hd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547664" y="409575"/>
            <a:ext cx="5760640" cy="952500"/>
          </a:xfrm>
        </p:spPr>
        <p:txBody>
          <a:bodyPr/>
          <a:lstStyle/>
          <a:p>
            <a:r>
              <a:rPr lang="sv-SE" b="1" dirty="0"/>
              <a:t>Rutin kontorslandskap Dometic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971600" y="985292"/>
            <a:ext cx="7537276" cy="36004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sv-SE" dirty="0"/>
              <a:t>	</a:t>
            </a:r>
          </a:p>
          <a:p>
            <a:pPr>
              <a:buNone/>
            </a:pPr>
            <a:r>
              <a:rPr lang="sv-SE" sz="1800" dirty="0"/>
              <a:t>	</a:t>
            </a:r>
            <a:r>
              <a:rPr lang="sv-SE" sz="2400" b="1" dirty="0"/>
              <a:t>D</a:t>
            </a:r>
            <a:r>
              <a:rPr lang="sv-SE" sz="1800" dirty="0"/>
              <a:t>enna arbetsplats delas av många. För att vi som arbetar här ska må bra behöver följande respekteras av…….</a:t>
            </a:r>
          </a:p>
          <a:p>
            <a:pPr>
              <a:buFont typeface="Wingdings" pitchFamily="2" charset="2"/>
              <a:buChar char="§"/>
            </a:pPr>
            <a:r>
              <a:rPr lang="sv-SE" sz="1800" dirty="0"/>
              <a:t>……</a:t>
            </a:r>
            <a:r>
              <a:rPr lang="sv-SE" sz="2000" b="1" dirty="0"/>
              <a:t>D</a:t>
            </a:r>
            <a:r>
              <a:rPr lang="sv-SE" b="1" dirty="0"/>
              <a:t>ig som arbetar i kontorslandskapet:</a:t>
            </a:r>
          </a:p>
          <a:p>
            <a:pPr lvl="1">
              <a:buFont typeface="Wingdings" pitchFamily="2" charset="2"/>
              <a:buChar char="Ø"/>
            </a:pPr>
            <a:r>
              <a:rPr lang="sv-SE" dirty="0"/>
              <a:t>Håll låg ljudnivå på ringsignaler och samtal</a:t>
            </a:r>
          </a:p>
          <a:p>
            <a:pPr lvl="1">
              <a:buFont typeface="Wingdings" pitchFamily="2" charset="2"/>
              <a:buChar char="Ø"/>
            </a:pPr>
            <a:r>
              <a:rPr lang="sv-SE" dirty="0"/>
              <a:t>Håll planerade och oplanerade möten i konferensrummet/fikarummet</a:t>
            </a:r>
          </a:p>
          <a:p>
            <a:pPr lvl="1">
              <a:buFont typeface="Wingdings" pitchFamily="2" charset="2"/>
              <a:buChar char="Ø"/>
            </a:pPr>
            <a:r>
              <a:rPr lang="sv-SE" dirty="0"/>
              <a:t>Håll ordning på och runt din arbetsplats samt gemensamma utrymmen</a:t>
            </a:r>
          </a:p>
          <a:p>
            <a:pPr lvl="1">
              <a:buFont typeface="Wingdings" pitchFamily="2" charset="2"/>
              <a:buChar char="Ø"/>
            </a:pPr>
            <a:endParaRPr lang="sv-SE" dirty="0"/>
          </a:p>
          <a:p>
            <a:pPr>
              <a:buFont typeface="Wingdings" pitchFamily="2" charset="2"/>
              <a:buChar char="§"/>
            </a:pPr>
            <a:r>
              <a:rPr lang="sv-SE" sz="1800" dirty="0"/>
              <a:t>…... </a:t>
            </a:r>
            <a:r>
              <a:rPr lang="sv-SE" sz="2000" b="1" dirty="0"/>
              <a:t>D</a:t>
            </a:r>
            <a:r>
              <a:rPr lang="sv-SE" b="1" dirty="0"/>
              <a:t>ig som besökare – tänk på följande</a:t>
            </a:r>
            <a:r>
              <a:rPr lang="sv-SE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sv-SE" dirty="0"/>
              <a:t>Kontorslandskapet är ingen ”genomfartsled”</a:t>
            </a:r>
          </a:p>
          <a:p>
            <a:pPr lvl="1">
              <a:buFont typeface="Wingdings" pitchFamily="2" charset="2"/>
              <a:buChar char="Ø"/>
            </a:pPr>
            <a:r>
              <a:rPr lang="sv-SE" dirty="0"/>
              <a:t>Håll låg ljudnivå</a:t>
            </a:r>
          </a:p>
          <a:p>
            <a:endParaRPr lang="sv-SE" dirty="0"/>
          </a:p>
          <a:p>
            <a:pPr algn="ctr">
              <a:buNone/>
            </a:pPr>
            <a:r>
              <a:rPr lang="sv-SE" sz="1800" b="1" i="1" dirty="0"/>
              <a:t>Tack för din omtanke!</a:t>
            </a:r>
          </a:p>
          <a:p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>
          <a:xfrm>
            <a:off x="971600" y="5265309"/>
            <a:ext cx="5714999" cy="304271"/>
          </a:xfrm>
        </p:spPr>
        <p:txBody>
          <a:bodyPr/>
          <a:lstStyle/>
          <a:p>
            <a:r>
              <a:rPr lang="en-US" dirty="0"/>
              <a:t>PERS </a:t>
            </a:r>
            <a:r>
              <a:rPr lang="en-US" dirty="0" err="1"/>
              <a:t>Rutin</a:t>
            </a:r>
            <a:r>
              <a:rPr lang="en-US" dirty="0"/>
              <a:t> 032 </a:t>
            </a:r>
            <a:r>
              <a:rPr lang="en-US" dirty="0" err="1"/>
              <a:t>Utgåva</a:t>
            </a:r>
            <a:r>
              <a:rPr lang="en-US" dirty="0"/>
              <a:t> 3.  </a:t>
            </a:r>
            <a:r>
              <a:rPr lang="en-US" dirty="0" err="1"/>
              <a:t>Godkänd</a:t>
            </a:r>
            <a:r>
              <a:rPr lang="en-US" dirty="0"/>
              <a:t> av LG 2020-01-27</a:t>
            </a:r>
            <a:endParaRPr lang="sv-SE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2422" y="4050732"/>
            <a:ext cx="2786041" cy="1257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nga">
  <a:themeElements>
    <a:clrScheme name="Slin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lin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n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19232</TotalTime>
  <Words>92</Words>
  <Application>Microsoft Office PowerPoint</Application>
  <PresentationFormat>On-screen Show (16:10)</PresentationFormat>
  <Paragraphs>15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Century Gothic</vt:lpstr>
      <vt:lpstr>Wingdings</vt:lpstr>
      <vt:lpstr>Wingdings 3</vt:lpstr>
      <vt:lpstr>Slinga</vt:lpstr>
      <vt:lpstr>think-cell Slide</vt:lpstr>
      <vt:lpstr>Rutin kontorslandskap Dometic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Dometic Group BoD meeting March 2013</dc:title>
  <dc:creator>Henrik Halvorsen</dc:creator>
  <cp:lastModifiedBy>Gabriella Hägg</cp:lastModifiedBy>
  <cp:revision>1366</cp:revision>
  <cp:lastPrinted>2014-09-10T07:21:44Z</cp:lastPrinted>
  <dcterms:created xsi:type="dcterms:W3CDTF">2013-02-26T10:27:08Z</dcterms:created>
  <dcterms:modified xsi:type="dcterms:W3CDTF">2023-09-14T05:43:58Z</dcterms:modified>
</cp:coreProperties>
</file>